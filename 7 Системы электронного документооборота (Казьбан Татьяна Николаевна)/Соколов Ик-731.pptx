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397" r:id="rId3"/>
    <p:sldId id="396" r:id="rId4"/>
    <p:sldId id="398" r:id="rId5"/>
    <p:sldId id="399" r:id="rId6"/>
    <p:sldId id="400" r:id="rId7"/>
    <p:sldId id="401" r:id="rId8"/>
    <p:sldId id="402" r:id="rId9"/>
    <p:sldId id="403" r:id="rId10"/>
    <p:sldId id="404" r:id="rId11"/>
    <p:sldId id="405" r:id="rId12"/>
    <p:sldId id="406" r:id="rId13"/>
    <p:sldId id="407" r:id="rId14"/>
    <p:sldId id="408" r:id="rId15"/>
    <p:sldId id="409" r:id="rId16"/>
    <p:sldId id="410" r:id="rId17"/>
    <p:sldId id="411" r:id="rId18"/>
    <p:sldId id="412" r:id="rId19"/>
    <p:sldId id="413" r:id="rId20"/>
    <p:sldId id="414" r:id="rId21"/>
    <p:sldId id="270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3158" autoAdjust="0"/>
  </p:normalViewPr>
  <p:slideViewPr>
    <p:cSldViewPr snapToGrid="0">
      <p:cViewPr varScale="1">
        <p:scale>
          <a:sx n="72" d="100"/>
          <a:sy n="72" d="100"/>
        </p:scale>
        <p:origin x="20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3E7600-9045-4A8B-A2BC-B0BD0ADB43D2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A4C92-FD1B-49AD-956B-38BD3429A8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3153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4F20C5-343F-447E-95CE-BEBA09498CFE}" type="slidenum">
              <a:rPr lang="ru-RU" smtClean="0"/>
              <a:pPr/>
              <a:t>1</a:t>
            </a:fld>
            <a:endParaRPr lang="ru-RU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Сегодня практически любая организация сталкивается с лавинообразным ростом объёма документов: приказы, договоры, счета, переписка, отчёты. При бумажном документообороте это приводит к целому набору проблем: документы теряются, дублируются, долго согласуются, сложно отследить, кто и когда внес изменения или принял решение.</a:t>
            </a:r>
          </a:p>
          <a:p>
            <a:endParaRPr lang="ru-RU" dirty="0"/>
          </a:p>
          <a:p>
            <a:r>
              <a:rPr lang="ru-RU" dirty="0"/>
              <a:t>Кроме того, бумага — это прямые расходы: печать, архивные помещения, курьеры, экспресс-доставка, а также косвенные издержки из-за затяжных согласований и ошибок при ручном вводе.</a:t>
            </a:r>
          </a:p>
          <a:p>
            <a:endParaRPr lang="ru-RU" dirty="0"/>
          </a:p>
          <a:p>
            <a:r>
              <a:rPr lang="ru-RU" dirty="0"/>
              <a:t>Переход на электронный документооборот позволяет решить эти проблемы: ускорить процессы согласования, сделать их прозрачными и управляемыми, обеспечить контроль сроков и соблюдение регламентов. Ключевая цель — построить по-настоящему «безбумажное делопроизводство», когда бумага используется только там, где этого строго требует закон или партнёры.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4F20C5-343F-447E-95CE-BEBA09498CFE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8532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dirty="0"/>
              <a:t>Под электронным документооборотом (ЭДО) обычно понимают технологию обмена юридически значимыми документами между участниками в электронном виде с использованием электронной подписи и соблюдением требований законодательства.</a:t>
            </a:r>
          </a:p>
          <a:p>
            <a:endParaRPr lang="ru-RU" dirty="0"/>
          </a:p>
          <a:p>
            <a:r>
              <a:rPr lang="ru-RU" dirty="0"/>
              <a:t>Система электронного документооборота (СЭД) — это программный комплекс, который поддерживает полный жизненный цикл документа: от его создания и регистрации до согласования, утверждения, исполнения и архивного хранения. Такая система обеспечивает маршрутизацию документов по заданным бизнес-процессам, контроль сроков и автоматическую регистрацию всех действий.</a:t>
            </a:r>
          </a:p>
          <a:p>
            <a:endParaRPr lang="ru-RU" dirty="0"/>
          </a:p>
          <a:p>
            <a:r>
              <a:rPr lang="ru-RU" dirty="0"/>
              <a:t>К ключевым функциям СЭД/ЭДО относятся: создание и </a:t>
            </a:r>
            <a:r>
              <a:rPr lang="ru-RU" dirty="0" err="1"/>
              <a:t>шаблонизация</a:t>
            </a:r>
            <a:r>
              <a:rPr lang="ru-RU" dirty="0"/>
              <a:t> документов, их передача и рассылка, согласование и утверждение, подписание электронной подписью, хранение, поиск и формирование отчётности.</a:t>
            </a:r>
          </a:p>
          <a:p>
            <a:endParaRPr lang="ru-RU" dirty="0"/>
          </a:p>
          <a:p>
            <a:r>
              <a:rPr lang="ru-RU" dirty="0"/>
              <a:t>В результате организация получает прозрачность процессов, значительное сокращение сроков обработки документов, возможность полноценно работать удалённо, экономию на бумаге, печати и логистике, а также лучшее соблюдение регламентов и нормативных требований.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4F20C5-343F-447E-95CE-BEBA09498CFE}" type="slidenum">
              <a:rPr lang="ru-RU" smtClean="0"/>
              <a:pPr/>
              <a:t>3</a:t>
            </a:fld>
            <a:endParaRPr lang="ru-RU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4F20C5-343F-447E-95CE-BEBA09498CFE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1917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4F20C5-343F-447E-95CE-BEBA09498CFE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38819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4F20C5-343F-447E-95CE-BEBA09498CFE}" type="slidenum">
              <a:rPr lang="ru-RU" smtClean="0"/>
              <a:pPr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97431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4F20C5-343F-447E-95CE-BEBA09498CFE}" type="slidenum">
              <a:rPr lang="ru-RU" smtClean="0"/>
              <a:pPr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80400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4F20C5-343F-447E-95CE-BEBA09498CFE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730790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4F20C5-343F-447E-95CE-BEBA09498CFE}" type="slidenum">
              <a:rPr lang="ru-RU" smtClean="0"/>
              <a:pPr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43147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4F20C5-343F-447E-95CE-BEBA09498CFE}" type="slidenum">
              <a:rPr lang="ru-RU" smtClean="0"/>
              <a:pPr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98129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4F20C5-343F-447E-95CE-BEBA09498CFE}" type="slidenum">
              <a:rPr lang="ru-RU" smtClean="0"/>
              <a:pPr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48800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4F20C5-343F-447E-95CE-BEBA09498CFE}" type="slidenum">
              <a:rPr lang="ru-RU" smtClean="0"/>
              <a:pPr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44985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4F20C5-343F-447E-95CE-BEBA09498CFE}" type="slidenum">
              <a:rPr lang="ru-RU" smtClean="0"/>
              <a:pPr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04459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4F20C5-343F-447E-95CE-BEBA09498CFE}" type="slidenum">
              <a:rPr lang="ru-RU" smtClean="0"/>
              <a:pPr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509171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4F20C5-343F-447E-95CE-BEBA09498CFE}" type="slidenum">
              <a:rPr lang="ru-RU" smtClean="0"/>
              <a:pPr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67304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4F20C5-343F-447E-95CE-BEBA09498CFE}" type="slidenum">
              <a:rPr lang="ru-RU" smtClean="0"/>
              <a:pPr/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82635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4F20C5-343F-447E-95CE-BEBA09498CFE}" type="slidenum">
              <a:rPr lang="ru-RU" smtClean="0"/>
              <a:pPr/>
              <a:t>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48750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4F20C5-343F-447E-95CE-BEBA09498CFE}" type="slidenum">
              <a:rPr lang="ru-RU" smtClean="0"/>
              <a:pPr/>
              <a:t>18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55299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4F20C5-343F-447E-95CE-BEBA09498CFE}" type="slidenum">
              <a:rPr lang="ru-RU" smtClean="0"/>
              <a:pPr/>
              <a:t>19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17240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4F20C5-343F-447E-95CE-BEBA09498CFE}" type="slidenum">
              <a:rPr lang="ru-RU" smtClean="0"/>
              <a:pPr/>
              <a:t>20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1530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E88DD7-7667-487F-BF42-FEF92A5C79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CF1DCA7-395F-46B1-B539-000ED3274B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445B63-6F6C-4ACE-8912-A7546643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28A8F-F28A-4ADC-9FA4-C15263314396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63B02A-A6E8-44E9-A5AE-4D6783062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BE13CA-5DCC-4877-8EF6-827FE18F8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D9A8C-EF6D-4436-9585-D36760F025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7146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62D2CF-EA3A-480E-87DC-EAF465FA2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CC1946-F5FF-4967-A9B1-BB4670FAA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B88A69-045E-457A-9903-ECC934A3B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28A8F-F28A-4ADC-9FA4-C15263314396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640CD6-B4F1-49C7-8670-93EEC8C8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EE79A6-A394-45CF-9113-06A4174C8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D9A8C-EF6D-4436-9585-D36760F025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4267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E4D2D7-E38B-4391-B9BE-4903339DB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BB194E3-15C2-4C9A-97A3-A94A63AEC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BA0627-A171-433C-B6A0-6BCF77755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28A8F-F28A-4ADC-9FA4-C15263314396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EE887C-66D1-4E5D-ADDD-CD33753CA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22EEDF-8078-49F4-8442-A65293EDF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D9A8C-EF6D-4436-9585-D36760F025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1047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6A0274-B581-4F8A-BDBC-655B901FF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167D16-7955-4A50-AF61-16B1DB708B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A87919C-8039-4E4B-B605-D53052122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93AE573-9073-4BB3-8D46-BC6EDC10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28A8F-F28A-4ADC-9FA4-C15263314396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C14EFCF-62BD-476D-88B2-F63C4EB70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7675AA2-7F1E-46E8-BFC6-83E1BEF8D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D9A8C-EF6D-4436-9585-D36760F025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9338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9AA0F0-8BEB-4F5E-AFDB-7D5696CEE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D9D0E62-D25A-461A-B446-18DA04EAD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254B52F-F0EB-4AF4-9181-644E002D3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77D8FD8-9C05-40EC-A97D-222F061D9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1F4CC1E-A9E5-4BAD-9F69-6B3010DE76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42314ED-AC60-4647-AF45-8FF3D7FAB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28A8F-F28A-4ADC-9FA4-C15263314396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AB179E7-0EFE-4CF5-951A-0B97E0A33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78B4034-2AE8-4818-B0E8-D72CA222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D9A8C-EF6D-4436-9585-D36760F025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4630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5F095E-CFF5-415F-8137-72CBF6B95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B169E05-2694-4ECE-80DE-A6502EEC9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28A8F-F28A-4ADC-9FA4-C15263314396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E46B6F6-DCCE-481B-AE2A-87C30CD5F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A670CA1-040C-4B75-BD00-D77F2B37F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D9A8C-EF6D-4436-9585-D36760F025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875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8AD90A4-3759-429D-865E-F1402293C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28A8F-F28A-4ADC-9FA4-C15263314396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00993BD-500B-47F5-9D1C-A8BC3BE7D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CFB4700-3150-4EC0-84F1-AA030CB25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D9A8C-EF6D-4436-9585-D36760F025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4649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732348-7FC1-46A2-A2E1-F59569530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537675-CDEB-4AC2-B5AC-A290A7E34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BB98C63-6BBC-4470-B7CC-0723293A7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4B8C7C3-0F37-4851-8BEB-32A48AEFE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28A8F-F28A-4ADC-9FA4-C15263314396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BA24EF-6566-459A-9883-6F8FA80CE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5D88A0A-47FB-41E5-AE2A-AD1586A37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D9A8C-EF6D-4436-9585-D36760F025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1176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7100D7-4043-41EA-B1BC-6D193B468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F338D0D-C1AA-4277-832C-A777CEBEC5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A4EA2EC-C509-414C-9ED3-94FE2A4BB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C382BF4-2034-45A4-8279-A76B40FF5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28A8F-F28A-4ADC-9FA4-C15263314396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FF1768C-4FC1-4D79-ACF8-C674DEFBC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49BDE78-E8D0-48DB-B6D0-D8BC5B819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D9A8C-EF6D-4436-9585-D36760F025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2261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DF28BA-AB0C-498D-B3C6-598BD49C2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B57B11F-C9BF-47CE-9A70-A14E23483C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DB4445-056A-4ED5-ACE3-9062BD0E2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28A8F-F28A-4ADC-9FA4-C15263314396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D5E245-630F-4BD0-AA85-7347B78FD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0FF967-A57F-4A74-8F31-87E2666D9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D9A8C-EF6D-4436-9585-D36760F025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2413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CF503C1-2A69-422B-986B-1FD84AE17C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0E0C52C-69E0-4CFC-A801-5B4D4D92F7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FBD9A8-A05C-4F83-9A37-64E62C3DA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28A8F-F28A-4ADC-9FA4-C15263314396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D954FA-F63C-425F-B7BE-F00FFEB75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7998D9-1949-442B-BB6A-41543EB75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D9A8C-EF6D-4436-9585-D36760F025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6404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16DC0A-778E-4C44-8809-80B5C36B1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2C05CF-4CD7-4323-9A37-A21AC1C1A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3AF704-30FE-4F97-A1A9-EB81C67012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D28A8F-F28A-4ADC-9FA4-C15263314396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92FCAD-3781-427E-821E-549A17F571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A37980-612C-4385-96B2-D1DEB48E48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D9A8C-EF6D-4436-9585-D36760F025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3123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848" y="775718"/>
            <a:ext cx="2540005" cy="790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Прямоугольник 7"/>
          <p:cNvSpPr>
            <a:spLocks noChangeArrowheads="1"/>
          </p:cNvSpPr>
          <p:nvPr/>
        </p:nvSpPr>
        <p:spPr bwMode="auto">
          <a:xfrm flipH="1">
            <a:off x="1142997" y="2842101"/>
            <a:ext cx="3079561" cy="117379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2988"/>
            <a:endParaRPr lang="ru-RU" dirty="0"/>
          </a:p>
        </p:txBody>
      </p:sp>
      <p:sp>
        <p:nvSpPr>
          <p:cNvPr id="2071" name="Text Box 23"/>
          <p:cNvSpPr txBox="1">
            <a:spLocks noChangeArrowheads="1"/>
          </p:cNvSpPr>
          <p:nvPr/>
        </p:nvSpPr>
        <p:spPr bwMode="auto">
          <a:xfrm>
            <a:off x="4397576" y="2815571"/>
            <a:ext cx="6098108" cy="78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b="1" dirty="0">
                <a:solidFill>
                  <a:srgbClr val="C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Системы электронного документооборота (СЭД/ЭДО).</a:t>
            </a:r>
          </a:p>
          <a:p>
            <a:pPr algn="ctr">
              <a:spcBef>
                <a:spcPct val="50000"/>
              </a:spcBef>
            </a:pPr>
            <a:r>
              <a:rPr lang="ru-RU" b="1" dirty="0">
                <a:solidFill>
                  <a:srgbClr val="C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ЭДО - </a:t>
            </a:r>
            <a:r>
              <a:rPr lang="en-US" b="1" dirty="0" err="1">
                <a:solidFill>
                  <a:srgbClr val="C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Directum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endParaRPr lang="ru-RU" b="1" dirty="0">
              <a:solidFill>
                <a:srgbClr val="C00000"/>
              </a:solidFill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 Box 23">
            <a:extLst>
              <a:ext uri="{FF2B5EF4-FFF2-40B4-BE49-F238E27FC236}">
                <a16:creationId xmlns:a16="http://schemas.microsoft.com/office/drawing/2014/main" id="{A70EC62F-9EA3-41A7-A6F9-816FC6367F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9530" y="5315970"/>
            <a:ext cx="609810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ru-RU" sz="1400" b="1" dirty="0">
                <a:solidFill>
                  <a:srgbClr val="C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Выполнил Соколов Д.</a:t>
            </a:r>
          </a:p>
          <a:p>
            <a:pPr algn="l">
              <a:spcBef>
                <a:spcPct val="50000"/>
              </a:spcBef>
            </a:pPr>
            <a:r>
              <a:rPr lang="ru-RU" sz="1400" b="1" dirty="0">
                <a:solidFill>
                  <a:srgbClr val="C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Группа Ик-731 </a:t>
            </a:r>
          </a:p>
          <a:p>
            <a:pPr algn="l">
              <a:spcBef>
                <a:spcPct val="50000"/>
              </a:spcBef>
            </a:pPr>
            <a:r>
              <a:rPr lang="ru-RU" sz="1400" b="1" dirty="0">
                <a:solidFill>
                  <a:srgbClr val="C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20.11.2025</a:t>
            </a:r>
          </a:p>
        </p:txBody>
      </p:sp>
    </p:spTree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1143001" y="255352"/>
            <a:ext cx="734675" cy="870898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2988"/>
            <a:endParaRPr lang="ru-RU" sz="2100" dirty="0">
              <a:solidFill>
                <a:schemeClr val="bg1"/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121" y="255352"/>
            <a:ext cx="1164169" cy="362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23">
            <a:extLst>
              <a:ext uri="{FF2B5EF4-FFF2-40B4-BE49-F238E27FC236}">
                <a16:creationId xmlns:a16="http://schemas.microsoft.com/office/drawing/2014/main" id="{746F6254-99E3-4139-B3A0-8BBD0C393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2698" y="1515516"/>
            <a:ext cx="6305364" cy="2400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>
              <a:spcBef>
                <a:spcPct val="50000"/>
              </a:spcBef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Бумажный документооборот: медленно, дорого, рискованно</a:t>
            </a:r>
          </a:p>
          <a:p>
            <a:pPr marL="457200" indent="-457200">
              <a:spcBef>
                <a:spcPct val="50000"/>
              </a:spcBef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Потери документов, ошибки, дублирование</a:t>
            </a:r>
          </a:p>
          <a:p>
            <a:pPr marL="457200" indent="-457200">
              <a:spcBef>
                <a:spcPct val="50000"/>
              </a:spcBef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Рост объёмов информации</a:t>
            </a:r>
          </a:p>
          <a:p>
            <a:pPr marL="457200" indent="-457200">
              <a:spcBef>
                <a:spcPct val="50000"/>
              </a:spcBef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Цели автоматизации: скорость, прозрачность, контроль, «без бумаги»</a:t>
            </a:r>
          </a:p>
        </p:txBody>
      </p:sp>
      <p:sp>
        <p:nvSpPr>
          <p:cNvPr id="13" name="Line 30">
            <a:extLst>
              <a:ext uri="{FF2B5EF4-FFF2-40B4-BE49-F238E27FC236}">
                <a16:creationId xmlns:a16="http://schemas.microsoft.com/office/drawing/2014/main" id="{6371D49C-8E71-4D92-8E2E-8090143435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2121" y="1126251"/>
            <a:ext cx="8486155" cy="9523"/>
          </a:xfrm>
          <a:prstGeom prst="line">
            <a:avLst/>
          </a:prstGeom>
          <a:noFill/>
          <a:ln w="19050" cap="sq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14" name="Text Box 23">
            <a:extLst>
              <a:ext uri="{FF2B5EF4-FFF2-40B4-BE49-F238E27FC236}">
                <a16:creationId xmlns:a16="http://schemas.microsoft.com/office/drawing/2014/main" id="{32A7D351-F285-40D4-93F5-F6819236F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7667" y="687389"/>
            <a:ext cx="848615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 dirty="0">
                <a:solidFill>
                  <a:srgbClr val="C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Введение: мотивация к переходу на ЭДО</a:t>
            </a:r>
          </a:p>
        </p:txBody>
      </p:sp>
    </p:spTree>
    <p:extLst>
      <p:ext uri="{BB962C8B-B14F-4D97-AF65-F5344CB8AC3E}">
        <p14:creationId xmlns:p14="http://schemas.microsoft.com/office/powerpoint/2010/main" val="4010117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1143001" y="255352"/>
            <a:ext cx="734675" cy="870898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2988"/>
            <a:endParaRPr lang="ru-RU" sz="2100" dirty="0">
              <a:solidFill>
                <a:schemeClr val="bg1"/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121" y="255352"/>
            <a:ext cx="1164169" cy="362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23">
            <a:extLst>
              <a:ext uri="{FF2B5EF4-FFF2-40B4-BE49-F238E27FC236}">
                <a16:creationId xmlns:a16="http://schemas.microsoft.com/office/drawing/2014/main" id="{746F6254-99E3-4139-B3A0-8BBD0C393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1" y="1555250"/>
            <a:ext cx="6113387" cy="3016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000" b="1" dirty="0">
                <a:solidFill>
                  <a:srgbClr val="C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ЭДО</a:t>
            </a:r>
            <a:r>
              <a:rPr lang="ru-RU" sz="2000" dirty="0"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— обмен юридически значимыми документами в электронном виде</a:t>
            </a:r>
          </a:p>
          <a:p>
            <a:pPr>
              <a:spcBef>
                <a:spcPct val="50000"/>
              </a:spcBef>
            </a:pPr>
            <a:r>
              <a:rPr lang="ru-RU" sz="2000" b="1" dirty="0">
                <a:solidFill>
                  <a:srgbClr val="C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СЭД</a:t>
            </a:r>
            <a:r>
              <a:rPr lang="ru-RU" sz="2000" dirty="0"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— система для управления жизненным циклом документов</a:t>
            </a:r>
          </a:p>
          <a:p>
            <a:pPr>
              <a:spcBef>
                <a:spcPct val="50000"/>
              </a:spcBef>
            </a:pPr>
            <a:r>
              <a:rPr lang="ru-RU" sz="2000" dirty="0"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Основные функции: создание, передача, согласование, подписание, хранение, поиск</a:t>
            </a:r>
          </a:p>
          <a:p>
            <a:pPr>
              <a:spcBef>
                <a:spcPct val="50000"/>
              </a:spcBef>
            </a:pPr>
            <a:r>
              <a:rPr lang="ru-RU" sz="2000" dirty="0"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Преимущества: прозрачность, скорость, удалённая работа, экономия</a:t>
            </a:r>
          </a:p>
        </p:txBody>
      </p:sp>
      <p:sp>
        <p:nvSpPr>
          <p:cNvPr id="13" name="Line 30">
            <a:extLst>
              <a:ext uri="{FF2B5EF4-FFF2-40B4-BE49-F238E27FC236}">
                <a16:creationId xmlns:a16="http://schemas.microsoft.com/office/drawing/2014/main" id="{6371D49C-8E71-4D92-8E2E-8090143435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2121" y="1126251"/>
            <a:ext cx="8486155" cy="9523"/>
          </a:xfrm>
          <a:prstGeom prst="line">
            <a:avLst/>
          </a:prstGeom>
          <a:noFill/>
          <a:ln w="19050" cap="sq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14" name="Text Box 23">
            <a:extLst>
              <a:ext uri="{FF2B5EF4-FFF2-40B4-BE49-F238E27FC236}">
                <a16:creationId xmlns:a16="http://schemas.microsoft.com/office/drawing/2014/main" id="{32A7D351-F285-40D4-93F5-F6819236F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7667" y="687389"/>
            <a:ext cx="848615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 dirty="0">
                <a:solidFill>
                  <a:srgbClr val="C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Определение ЭДО/СЭД и преимущества</a:t>
            </a:r>
          </a:p>
        </p:txBody>
      </p:sp>
    </p:spTree>
    <p:extLst>
      <p:ext uri="{BB962C8B-B14F-4D97-AF65-F5344CB8AC3E}">
        <p14:creationId xmlns:p14="http://schemas.microsoft.com/office/powerpoint/2010/main" val="1959655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1143001" y="255352"/>
            <a:ext cx="734675" cy="870898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2988"/>
            <a:endParaRPr lang="ru-RU" sz="2100" dirty="0">
              <a:solidFill>
                <a:schemeClr val="bg1"/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121" y="255352"/>
            <a:ext cx="1164169" cy="362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23">
            <a:extLst>
              <a:ext uri="{FF2B5EF4-FFF2-40B4-BE49-F238E27FC236}">
                <a16:creationId xmlns:a16="http://schemas.microsoft.com/office/drawing/2014/main" id="{746F6254-99E3-4139-B3A0-8BBD0C393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7674" y="1356468"/>
            <a:ext cx="44665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ru-RU" sz="2000" b="1" dirty="0"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Текст</a:t>
            </a:r>
            <a:endParaRPr lang="ru-RU" sz="2000" dirty="0"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Line 30">
            <a:extLst>
              <a:ext uri="{FF2B5EF4-FFF2-40B4-BE49-F238E27FC236}">
                <a16:creationId xmlns:a16="http://schemas.microsoft.com/office/drawing/2014/main" id="{6371D49C-8E71-4D92-8E2E-8090143435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2121" y="1126251"/>
            <a:ext cx="8486155" cy="9523"/>
          </a:xfrm>
          <a:prstGeom prst="line">
            <a:avLst/>
          </a:prstGeom>
          <a:noFill/>
          <a:ln w="19050" cap="sq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14" name="Text Box 23">
            <a:extLst>
              <a:ext uri="{FF2B5EF4-FFF2-40B4-BE49-F238E27FC236}">
                <a16:creationId xmlns:a16="http://schemas.microsoft.com/office/drawing/2014/main" id="{32A7D351-F285-40D4-93F5-F6819236F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7667" y="687389"/>
            <a:ext cx="848615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 dirty="0">
                <a:solidFill>
                  <a:srgbClr val="C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Основные понятия</a:t>
            </a:r>
          </a:p>
        </p:txBody>
      </p:sp>
    </p:spTree>
    <p:extLst>
      <p:ext uri="{BB962C8B-B14F-4D97-AF65-F5344CB8AC3E}">
        <p14:creationId xmlns:p14="http://schemas.microsoft.com/office/powerpoint/2010/main" val="2831835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1143001" y="255352"/>
            <a:ext cx="734675" cy="870898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2988"/>
            <a:endParaRPr lang="ru-RU" sz="2100" dirty="0">
              <a:solidFill>
                <a:schemeClr val="bg1"/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121" y="255352"/>
            <a:ext cx="1164169" cy="362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23">
            <a:extLst>
              <a:ext uri="{FF2B5EF4-FFF2-40B4-BE49-F238E27FC236}">
                <a16:creationId xmlns:a16="http://schemas.microsoft.com/office/drawing/2014/main" id="{746F6254-99E3-4139-B3A0-8BBD0C393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7674" y="1356468"/>
            <a:ext cx="44665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ru-RU" sz="2000" b="1" dirty="0"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Текст</a:t>
            </a:r>
            <a:endParaRPr lang="ru-RU" sz="2000" dirty="0"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Line 30">
            <a:extLst>
              <a:ext uri="{FF2B5EF4-FFF2-40B4-BE49-F238E27FC236}">
                <a16:creationId xmlns:a16="http://schemas.microsoft.com/office/drawing/2014/main" id="{6371D49C-8E71-4D92-8E2E-8090143435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2121" y="1126251"/>
            <a:ext cx="8486155" cy="9523"/>
          </a:xfrm>
          <a:prstGeom prst="line">
            <a:avLst/>
          </a:prstGeom>
          <a:noFill/>
          <a:ln w="19050" cap="sq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14" name="Text Box 23">
            <a:extLst>
              <a:ext uri="{FF2B5EF4-FFF2-40B4-BE49-F238E27FC236}">
                <a16:creationId xmlns:a16="http://schemas.microsoft.com/office/drawing/2014/main" id="{32A7D351-F285-40D4-93F5-F6819236F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7667" y="687389"/>
            <a:ext cx="848615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ru-RU" b="1" dirty="0">
                <a:solidFill>
                  <a:srgbClr val="C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696424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1143001" y="255352"/>
            <a:ext cx="734675" cy="870898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2988"/>
            <a:endParaRPr lang="ru-RU" sz="2100" dirty="0">
              <a:solidFill>
                <a:schemeClr val="bg1"/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121" y="255352"/>
            <a:ext cx="1164169" cy="362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23">
            <a:extLst>
              <a:ext uri="{FF2B5EF4-FFF2-40B4-BE49-F238E27FC236}">
                <a16:creationId xmlns:a16="http://schemas.microsoft.com/office/drawing/2014/main" id="{746F6254-99E3-4139-B3A0-8BBD0C393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7674" y="1356468"/>
            <a:ext cx="44665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ru-RU" sz="2000" b="1" dirty="0"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Текст</a:t>
            </a:r>
            <a:endParaRPr lang="ru-RU" sz="2000" dirty="0"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Line 30">
            <a:extLst>
              <a:ext uri="{FF2B5EF4-FFF2-40B4-BE49-F238E27FC236}">
                <a16:creationId xmlns:a16="http://schemas.microsoft.com/office/drawing/2014/main" id="{6371D49C-8E71-4D92-8E2E-8090143435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2121" y="1126251"/>
            <a:ext cx="8486155" cy="9523"/>
          </a:xfrm>
          <a:prstGeom prst="line">
            <a:avLst/>
          </a:prstGeom>
          <a:noFill/>
          <a:ln w="19050" cap="sq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14" name="Text Box 23">
            <a:extLst>
              <a:ext uri="{FF2B5EF4-FFF2-40B4-BE49-F238E27FC236}">
                <a16:creationId xmlns:a16="http://schemas.microsoft.com/office/drawing/2014/main" id="{32A7D351-F285-40D4-93F5-F6819236F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7667" y="687389"/>
            <a:ext cx="848615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ru-RU" b="1" dirty="0">
                <a:solidFill>
                  <a:srgbClr val="C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397120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1143001" y="255352"/>
            <a:ext cx="734675" cy="870898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2988"/>
            <a:endParaRPr lang="ru-RU" sz="2100" dirty="0">
              <a:solidFill>
                <a:schemeClr val="bg1"/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121" y="255352"/>
            <a:ext cx="1164169" cy="362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23">
            <a:extLst>
              <a:ext uri="{FF2B5EF4-FFF2-40B4-BE49-F238E27FC236}">
                <a16:creationId xmlns:a16="http://schemas.microsoft.com/office/drawing/2014/main" id="{746F6254-99E3-4139-B3A0-8BBD0C393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7674" y="1356468"/>
            <a:ext cx="44665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ru-RU" sz="2000" b="1" dirty="0"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Текст</a:t>
            </a:r>
            <a:endParaRPr lang="ru-RU" sz="2000" dirty="0"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Line 30">
            <a:extLst>
              <a:ext uri="{FF2B5EF4-FFF2-40B4-BE49-F238E27FC236}">
                <a16:creationId xmlns:a16="http://schemas.microsoft.com/office/drawing/2014/main" id="{6371D49C-8E71-4D92-8E2E-8090143435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2121" y="1126251"/>
            <a:ext cx="8486155" cy="9523"/>
          </a:xfrm>
          <a:prstGeom prst="line">
            <a:avLst/>
          </a:prstGeom>
          <a:noFill/>
          <a:ln w="19050" cap="sq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14" name="Text Box 23">
            <a:extLst>
              <a:ext uri="{FF2B5EF4-FFF2-40B4-BE49-F238E27FC236}">
                <a16:creationId xmlns:a16="http://schemas.microsoft.com/office/drawing/2014/main" id="{32A7D351-F285-40D4-93F5-F6819236F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7667" y="687389"/>
            <a:ext cx="848615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ru-RU" b="1" dirty="0">
                <a:solidFill>
                  <a:srgbClr val="C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321837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1143001" y="255352"/>
            <a:ext cx="734675" cy="870898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2988"/>
            <a:endParaRPr lang="ru-RU" sz="2100" dirty="0">
              <a:solidFill>
                <a:schemeClr val="bg1"/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121" y="255352"/>
            <a:ext cx="1164169" cy="362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23">
            <a:extLst>
              <a:ext uri="{FF2B5EF4-FFF2-40B4-BE49-F238E27FC236}">
                <a16:creationId xmlns:a16="http://schemas.microsoft.com/office/drawing/2014/main" id="{746F6254-99E3-4139-B3A0-8BBD0C393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7674" y="1356468"/>
            <a:ext cx="44665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ru-RU" sz="2000" b="1" dirty="0"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Текст</a:t>
            </a:r>
            <a:endParaRPr lang="ru-RU" sz="2000" dirty="0"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Line 30">
            <a:extLst>
              <a:ext uri="{FF2B5EF4-FFF2-40B4-BE49-F238E27FC236}">
                <a16:creationId xmlns:a16="http://schemas.microsoft.com/office/drawing/2014/main" id="{6371D49C-8E71-4D92-8E2E-8090143435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2121" y="1126251"/>
            <a:ext cx="8486155" cy="9523"/>
          </a:xfrm>
          <a:prstGeom prst="line">
            <a:avLst/>
          </a:prstGeom>
          <a:noFill/>
          <a:ln w="19050" cap="sq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14" name="Text Box 23">
            <a:extLst>
              <a:ext uri="{FF2B5EF4-FFF2-40B4-BE49-F238E27FC236}">
                <a16:creationId xmlns:a16="http://schemas.microsoft.com/office/drawing/2014/main" id="{32A7D351-F285-40D4-93F5-F6819236F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7667" y="687389"/>
            <a:ext cx="848615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ru-RU" b="1" dirty="0">
                <a:solidFill>
                  <a:srgbClr val="C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631876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1143001" y="255352"/>
            <a:ext cx="734675" cy="870898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2988"/>
            <a:endParaRPr lang="ru-RU" sz="2100" dirty="0">
              <a:solidFill>
                <a:schemeClr val="bg1"/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121" y="255352"/>
            <a:ext cx="1164169" cy="362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23">
            <a:extLst>
              <a:ext uri="{FF2B5EF4-FFF2-40B4-BE49-F238E27FC236}">
                <a16:creationId xmlns:a16="http://schemas.microsoft.com/office/drawing/2014/main" id="{746F6254-99E3-4139-B3A0-8BBD0C393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7674" y="1356468"/>
            <a:ext cx="44665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ru-RU" sz="2000" b="1" dirty="0"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Текст</a:t>
            </a:r>
            <a:endParaRPr lang="ru-RU" sz="2000" dirty="0"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Line 30">
            <a:extLst>
              <a:ext uri="{FF2B5EF4-FFF2-40B4-BE49-F238E27FC236}">
                <a16:creationId xmlns:a16="http://schemas.microsoft.com/office/drawing/2014/main" id="{6371D49C-8E71-4D92-8E2E-8090143435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2121" y="1126251"/>
            <a:ext cx="8486155" cy="9523"/>
          </a:xfrm>
          <a:prstGeom prst="line">
            <a:avLst/>
          </a:prstGeom>
          <a:noFill/>
          <a:ln w="19050" cap="sq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14" name="Text Box 23">
            <a:extLst>
              <a:ext uri="{FF2B5EF4-FFF2-40B4-BE49-F238E27FC236}">
                <a16:creationId xmlns:a16="http://schemas.microsoft.com/office/drawing/2014/main" id="{32A7D351-F285-40D4-93F5-F6819236F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7667" y="687389"/>
            <a:ext cx="848615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ru-RU" b="1" dirty="0">
                <a:solidFill>
                  <a:srgbClr val="C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776420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1143001" y="255352"/>
            <a:ext cx="734675" cy="870898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2988"/>
            <a:endParaRPr lang="ru-RU" sz="2100" dirty="0">
              <a:solidFill>
                <a:schemeClr val="bg1"/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121" y="255352"/>
            <a:ext cx="1164169" cy="362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23">
            <a:extLst>
              <a:ext uri="{FF2B5EF4-FFF2-40B4-BE49-F238E27FC236}">
                <a16:creationId xmlns:a16="http://schemas.microsoft.com/office/drawing/2014/main" id="{746F6254-99E3-4139-B3A0-8BBD0C393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7674" y="1356468"/>
            <a:ext cx="44665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ru-RU" sz="2000" b="1" dirty="0"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Текст</a:t>
            </a:r>
            <a:endParaRPr lang="ru-RU" sz="2000" dirty="0"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Line 30">
            <a:extLst>
              <a:ext uri="{FF2B5EF4-FFF2-40B4-BE49-F238E27FC236}">
                <a16:creationId xmlns:a16="http://schemas.microsoft.com/office/drawing/2014/main" id="{6371D49C-8E71-4D92-8E2E-8090143435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2121" y="1126251"/>
            <a:ext cx="8486155" cy="9523"/>
          </a:xfrm>
          <a:prstGeom prst="line">
            <a:avLst/>
          </a:prstGeom>
          <a:noFill/>
          <a:ln w="19050" cap="sq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14" name="Text Box 23">
            <a:extLst>
              <a:ext uri="{FF2B5EF4-FFF2-40B4-BE49-F238E27FC236}">
                <a16:creationId xmlns:a16="http://schemas.microsoft.com/office/drawing/2014/main" id="{32A7D351-F285-40D4-93F5-F6819236F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7667" y="687389"/>
            <a:ext cx="848615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ru-RU" b="1" dirty="0">
                <a:solidFill>
                  <a:srgbClr val="C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772464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1143001" y="255352"/>
            <a:ext cx="734675" cy="870898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2988"/>
            <a:endParaRPr lang="ru-RU" sz="2100" dirty="0">
              <a:solidFill>
                <a:schemeClr val="bg1"/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121" y="255352"/>
            <a:ext cx="1164169" cy="362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23">
            <a:extLst>
              <a:ext uri="{FF2B5EF4-FFF2-40B4-BE49-F238E27FC236}">
                <a16:creationId xmlns:a16="http://schemas.microsoft.com/office/drawing/2014/main" id="{746F6254-99E3-4139-B3A0-8BBD0C393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7674" y="1356468"/>
            <a:ext cx="44665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ru-RU" sz="2000" b="1" dirty="0"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Текст</a:t>
            </a:r>
            <a:endParaRPr lang="ru-RU" sz="2000" dirty="0"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Line 30">
            <a:extLst>
              <a:ext uri="{FF2B5EF4-FFF2-40B4-BE49-F238E27FC236}">
                <a16:creationId xmlns:a16="http://schemas.microsoft.com/office/drawing/2014/main" id="{6371D49C-8E71-4D92-8E2E-8090143435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2121" y="1126251"/>
            <a:ext cx="8486155" cy="9523"/>
          </a:xfrm>
          <a:prstGeom prst="line">
            <a:avLst/>
          </a:prstGeom>
          <a:noFill/>
          <a:ln w="19050" cap="sq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14" name="Text Box 23">
            <a:extLst>
              <a:ext uri="{FF2B5EF4-FFF2-40B4-BE49-F238E27FC236}">
                <a16:creationId xmlns:a16="http://schemas.microsoft.com/office/drawing/2014/main" id="{32A7D351-F285-40D4-93F5-F6819236F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7667" y="687389"/>
            <a:ext cx="848615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ru-RU" b="1" dirty="0">
                <a:solidFill>
                  <a:srgbClr val="C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366211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1143001" y="255352"/>
            <a:ext cx="734675" cy="870898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2988"/>
            <a:endParaRPr lang="ru-RU" sz="2100" dirty="0">
              <a:solidFill>
                <a:schemeClr val="bg1"/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121" y="255352"/>
            <a:ext cx="1164169" cy="362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23">
            <a:extLst>
              <a:ext uri="{FF2B5EF4-FFF2-40B4-BE49-F238E27FC236}">
                <a16:creationId xmlns:a16="http://schemas.microsoft.com/office/drawing/2014/main" id="{746F6254-99E3-4139-B3A0-8BBD0C393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7674" y="1356468"/>
            <a:ext cx="44665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ru-RU" sz="2000" b="1" dirty="0"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Текст</a:t>
            </a:r>
            <a:endParaRPr lang="ru-RU" sz="2000" dirty="0"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Line 30">
            <a:extLst>
              <a:ext uri="{FF2B5EF4-FFF2-40B4-BE49-F238E27FC236}">
                <a16:creationId xmlns:a16="http://schemas.microsoft.com/office/drawing/2014/main" id="{6371D49C-8E71-4D92-8E2E-8090143435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2121" y="1126251"/>
            <a:ext cx="8486155" cy="9523"/>
          </a:xfrm>
          <a:prstGeom prst="line">
            <a:avLst/>
          </a:prstGeom>
          <a:noFill/>
          <a:ln w="19050" cap="sq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14" name="Text Box 23">
            <a:extLst>
              <a:ext uri="{FF2B5EF4-FFF2-40B4-BE49-F238E27FC236}">
                <a16:creationId xmlns:a16="http://schemas.microsoft.com/office/drawing/2014/main" id="{32A7D351-F285-40D4-93F5-F6819236F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7667" y="687389"/>
            <a:ext cx="848615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ru-RU" b="1" dirty="0">
                <a:solidFill>
                  <a:srgbClr val="C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279912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1143001" y="255352"/>
            <a:ext cx="734675" cy="870898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2988"/>
            <a:endParaRPr lang="ru-RU" sz="2100" dirty="0">
              <a:solidFill>
                <a:schemeClr val="bg1"/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121" y="255352"/>
            <a:ext cx="1164169" cy="362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23">
            <a:extLst>
              <a:ext uri="{FF2B5EF4-FFF2-40B4-BE49-F238E27FC236}">
                <a16:creationId xmlns:a16="http://schemas.microsoft.com/office/drawing/2014/main" id="{746F6254-99E3-4139-B3A0-8BBD0C393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7674" y="1356468"/>
            <a:ext cx="44665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ru-RU" sz="2000" b="1" dirty="0"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Текст</a:t>
            </a:r>
            <a:endParaRPr lang="ru-RU" sz="2000" dirty="0"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Line 30">
            <a:extLst>
              <a:ext uri="{FF2B5EF4-FFF2-40B4-BE49-F238E27FC236}">
                <a16:creationId xmlns:a16="http://schemas.microsoft.com/office/drawing/2014/main" id="{6371D49C-8E71-4D92-8E2E-8090143435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2121" y="1126251"/>
            <a:ext cx="8486155" cy="9523"/>
          </a:xfrm>
          <a:prstGeom prst="line">
            <a:avLst/>
          </a:prstGeom>
          <a:noFill/>
          <a:ln w="19050" cap="sq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14" name="Text Box 23">
            <a:extLst>
              <a:ext uri="{FF2B5EF4-FFF2-40B4-BE49-F238E27FC236}">
                <a16:creationId xmlns:a16="http://schemas.microsoft.com/office/drawing/2014/main" id="{32A7D351-F285-40D4-93F5-F6819236F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7667" y="687389"/>
            <a:ext cx="848615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ru-RU" b="1" dirty="0">
                <a:solidFill>
                  <a:srgbClr val="C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6194564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1143001" y="255352"/>
            <a:ext cx="734675" cy="870898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2988"/>
            <a:endParaRPr lang="ru-RU" sz="2100" dirty="0">
              <a:solidFill>
                <a:schemeClr val="bg1"/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121" y="255352"/>
            <a:ext cx="1164169" cy="362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23">
            <a:extLst>
              <a:ext uri="{FF2B5EF4-FFF2-40B4-BE49-F238E27FC236}">
                <a16:creationId xmlns:a16="http://schemas.microsoft.com/office/drawing/2014/main" id="{746F6254-99E3-4139-B3A0-8BBD0C393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7674" y="1356468"/>
            <a:ext cx="44665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ru-RU" sz="2000" b="1" dirty="0"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Текст</a:t>
            </a:r>
            <a:endParaRPr lang="ru-RU" sz="2000" dirty="0"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Line 30">
            <a:extLst>
              <a:ext uri="{FF2B5EF4-FFF2-40B4-BE49-F238E27FC236}">
                <a16:creationId xmlns:a16="http://schemas.microsoft.com/office/drawing/2014/main" id="{6371D49C-8E71-4D92-8E2E-8090143435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2121" y="1126251"/>
            <a:ext cx="8486155" cy="9523"/>
          </a:xfrm>
          <a:prstGeom prst="line">
            <a:avLst/>
          </a:prstGeom>
          <a:noFill/>
          <a:ln w="19050" cap="sq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14" name="Text Box 23">
            <a:extLst>
              <a:ext uri="{FF2B5EF4-FFF2-40B4-BE49-F238E27FC236}">
                <a16:creationId xmlns:a16="http://schemas.microsoft.com/office/drawing/2014/main" id="{32A7D351-F285-40D4-93F5-F6819236F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7667" y="687389"/>
            <a:ext cx="848615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ru-RU" b="1" dirty="0">
                <a:solidFill>
                  <a:srgbClr val="C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839082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1143001" y="255352"/>
            <a:ext cx="734675" cy="870898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2988"/>
            <a:endParaRPr lang="ru-RU" sz="2100" dirty="0">
              <a:solidFill>
                <a:schemeClr val="bg1"/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121" y="255352"/>
            <a:ext cx="1164169" cy="362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23">
            <a:extLst>
              <a:ext uri="{FF2B5EF4-FFF2-40B4-BE49-F238E27FC236}">
                <a16:creationId xmlns:a16="http://schemas.microsoft.com/office/drawing/2014/main" id="{746F6254-99E3-4139-B3A0-8BBD0C393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7674" y="1356468"/>
            <a:ext cx="44665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ru-RU" sz="2000" b="1" dirty="0"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Текст</a:t>
            </a:r>
            <a:endParaRPr lang="ru-RU" sz="2000" dirty="0"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Line 30">
            <a:extLst>
              <a:ext uri="{FF2B5EF4-FFF2-40B4-BE49-F238E27FC236}">
                <a16:creationId xmlns:a16="http://schemas.microsoft.com/office/drawing/2014/main" id="{6371D49C-8E71-4D92-8E2E-8090143435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2121" y="1126251"/>
            <a:ext cx="8486155" cy="9523"/>
          </a:xfrm>
          <a:prstGeom prst="line">
            <a:avLst/>
          </a:prstGeom>
          <a:noFill/>
          <a:ln w="19050" cap="sq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14" name="Text Box 23">
            <a:extLst>
              <a:ext uri="{FF2B5EF4-FFF2-40B4-BE49-F238E27FC236}">
                <a16:creationId xmlns:a16="http://schemas.microsoft.com/office/drawing/2014/main" id="{32A7D351-F285-40D4-93F5-F6819236F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7667" y="687389"/>
            <a:ext cx="848615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ru-RU" b="1" dirty="0">
                <a:solidFill>
                  <a:srgbClr val="C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961111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1143001" y="255352"/>
            <a:ext cx="734675" cy="870898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2988"/>
            <a:endParaRPr lang="ru-RU" sz="2100" dirty="0">
              <a:solidFill>
                <a:schemeClr val="bg1"/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121" y="255352"/>
            <a:ext cx="1164169" cy="362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23">
            <a:extLst>
              <a:ext uri="{FF2B5EF4-FFF2-40B4-BE49-F238E27FC236}">
                <a16:creationId xmlns:a16="http://schemas.microsoft.com/office/drawing/2014/main" id="{746F6254-99E3-4139-B3A0-8BBD0C393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7674" y="1356468"/>
            <a:ext cx="44665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ru-RU" sz="2000" b="1" dirty="0"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Текст</a:t>
            </a:r>
            <a:endParaRPr lang="ru-RU" sz="2000" dirty="0"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Line 30">
            <a:extLst>
              <a:ext uri="{FF2B5EF4-FFF2-40B4-BE49-F238E27FC236}">
                <a16:creationId xmlns:a16="http://schemas.microsoft.com/office/drawing/2014/main" id="{6371D49C-8E71-4D92-8E2E-8090143435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2121" y="1126251"/>
            <a:ext cx="8486155" cy="9523"/>
          </a:xfrm>
          <a:prstGeom prst="line">
            <a:avLst/>
          </a:prstGeom>
          <a:noFill/>
          <a:ln w="19050" cap="sq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14" name="Text Box 23">
            <a:extLst>
              <a:ext uri="{FF2B5EF4-FFF2-40B4-BE49-F238E27FC236}">
                <a16:creationId xmlns:a16="http://schemas.microsoft.com/office/drawing/2014/main" id="{32A7D351-F285-40D4-93F5-F6819236F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7667" y="687389"/>
            <a:ext cx="848615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ru-RU" b="1" dirty="0">
                <a:solidFill>
                  <a:srgbClr val="C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4835429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1143001" y="255352"/>
            <a:ext cx="734675" cy="870898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2988"/>
            <a:endParaRPr lang="ru-RU" sz="2100" dirty="0">
              <a:solidFill>
                <a:schemeClr val="bg1"/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121" y="255352"/>
            <a:ext cx="1164169" cy="362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23">
            <a:extLst>
              <a:ext uri="{FF2B5EF4-FFF2-40B4-BE49-F238E27FC236}">
                <a16:creationId xmlns:a16="http://schemas.microsoft.com/office/drawing/2014/main" id="{746F6254-99E3-4139-B3A0-8BBD0C393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7674" y="1356468"/>
            <a:ext cx="44665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ru-RU" sz="2000" b="1" dirty="0"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Текст</a:t>
            </a:r>
            <a:endParaRPr lang="ru-RU" sz="2000" dirty="0"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Line 30">
            <a:extLst>
              <a:ext uri="{FF2B5EF4-FFF2-40B4-BE49-F238E27FC236}">
                <a16:creationId xmlns:a16="http://schemas.microsoft.com/office/drawing/2014/main" id="{6371D49C-8E71-4D92-8E2E-8090143435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2121" y="1126251"/>
            <a:ext cx="8486155" cy="9523"/>
          </a:xfrm>
          <a:prstGeom prst="line">
            <a:avLst/>
          </a:prstGeom>
          <a:noFill/>
          <a:ln w="19050" cap="sq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14" name="Text Box 23">
            <a:extLst>
              <a:ext uri="{FF2B5EF4-FFF2-40B4-BE49-F238E27FC236}">
                <a16:creationId xmlns:a16="http://schemas.microsoft.com/office/drawing/2014/main" id="{32A7D351-F285-40D4-93F5-F6819236F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7667" y="687389"/>
            <a:ext cx="848615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ru-RU" b="1" dirty="0">
                <a:solidFill>
                  <a:srgbClr val="C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9460780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1143001" y="255352"/>
            <a:ext cx="734675" cy="870898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2988"/>
            <a:endParaRPr lang="ru-RU" sz="2100" dirty="0">
              <a:solidFill>
                <a:schemeClr val="bg1"/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121" y="255352"/>
            <a:ext cx="1164169" cy="362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23">
            <a:extLst>
              <a:ext uri="{FF2B5EF4-FFF2-40B4-BE49-F238E27FC236}">
                <a16:creationId xmlns:a16="http://schemas.microsoft.com/office/drawing/2014/main" id="{746F6254-99E3-4139-B3A0-8BBD0C393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7674" y="1356468"/>
            <a:ext cx="44665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ru-RU" sz="2000" b="1" dirty="0"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Текст</a:t>
            </a:r>
            <a:endParaRPr lang="ru-RU" sz="2000" dirty="0"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Line 30">
            <a:extLst>
              <a:ext uri="{FF2B5EF4-FFF2-40B4-BE49-F238E27FC236}">
                <a16:creationId xmlns:a16="http://schemas.microsoft.com/office/drawing/2014/main" id="{6371D49C-8E71-4D92-8E2E-8090143435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2121" y="1126251"/>
            <a:ext cx="8486155" cy="9523"/>
          </a:xfrm>
          <a:prstGeom prst="line">
            <a:avLst/>
          </a:prstGeom>
          <a:noFill/>
          <a:ln w="19050" cap="sq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14" name="Text Box 23">
            <a:extLst>
              <a:ext uri="{FF2B5EF4-FFF2-40B4-BE49-F238E27FC236}">
                <a16:creationId xmlns:a16="http://schemas.microsoft.com/office/drawing/2014/main" id="{32A7D351-F285-40D4-93F5-F6819236F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7667" y="687389"/>
            <a:ext cx="848615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ru-RU" b="1" dirty="0">
                <a:solidFill>
                  <a:srgbClr val="C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290342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1143001" y="255352"/>
            <a:ext cx="734675" cy="870898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2988"/>
            <a:endParaRPr lang="ru-RU" sz="2100" dirty="0">
              <a:solidFill>
                <a:schemeClr val="bg1"/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121" y="255352"/>
            <a:ext cx="1164169" cy="362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23">
            <a:extLst>
              <a:ext uri="{FF2B5EF4-FFF2-40B4-BE49-F238E27FC236}">
                <a16:creationId xmlns:a16="http://schemas.microsoft.com/office/drawing/2014/main" id="{746F6254-99E3-4139-B3A0-8BBD0C393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7674" y="1356468"/>
            <a:ext cx="44665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ru-RU" sz="2000" b="1" dirty="0"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Текст</a:t>
            </a:r>
            <a:endParaRPr lang="ru-RU" sz="2000" dirty="0"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Line 30">
            <a:extLst>
              <a:ext uri="{FF2B5EF4-FFF2-40B4-BE49-F238E27FC236}">
                <a16:creationId xmlns:a16="http://schemas.microsoft.com/office/drawing/2014/main" id="{6371D49C-8E71-4D92-8E2E-8090143435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2121" y="1126251"/>
            <a:ext cx="8486155" cy="9523"/>
          </a:xfrm>
          <a:prstGeom prst="line">
            <a:avLst/>
          </a:prstGeom>
          <a:noFill/>
          <a:ln w="19050" cap="sq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14" name="Text Box 23">
            <a:extLst>
              <a:ext uri="{FF2B5EF4-FFF2-40B4-BE49-F238E27FC236}">
                <a16:creationId xmlns:a16="http://schemas.microsoft.com/office/drawing/2014/main" id="{32A7D351-F285-40D4-93F5-F6819236F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7667" y="687389"/>
            <a:ext cx="848615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ru-RU" b="1" dirty="0">
                <a:solidFill>
                  <a:srgbClr val="C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7604684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1143001" y="255352"/>
            <a:ext cx="734675" cy="870898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2988"/>
            <a:endParaRPr lang="ru-RU" sz="2100" dirty="0">
              <a:solidFill>
                <a:schemeClr val="bg1"/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121" y="255352"/>
            <a:ext cx="1164169" cy="362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23">
            <a:extLst>
              <a:ext uri="{FF2B5EF4-FFF2-40B4-BE49-F238E27FC236}">
                <a16:creationId xmlns:a16="http://schemas.microsoft.com/office/drawing/2014/main" id="{746F6254-99E3-4139-B3A0-8BBD0C393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7674" y="1356468"/>
            <a:ext cx="44665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ru-RU" sz="2000" b="1" dirty="0"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Текст</a:t>
            </a:r>
            <a:endParaRPr lang="ru-RU" sz="2000" dirty="0"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Line 30">
            <a:extLst>
              <a:ext uri="{FF2B5EF4-FFF2-40B4-BE49-F238E27FC236}">
                <a16:creationId xmlns:a16="http://schemas.microsoft.com/office/drawing/2014/main" id="{6371D49C-8E71-4D92-8E2E-8090143435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2121" y="1126251"/>
            <a:ext cx="8486155" cy="9523"/>
          </a:xfrm>
          <a:prstGeom prst="line">
            <a:avLst/>
          </a:prstGeom>
          <a:noFill/>
          <a:ln w="19050" cap="sq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14" name="Text Box 23">
            <a:extLst>
              <a:ext uri="{FF2B5EF4-FFF2-40B4-BE49-F238E27FC236}">
                <a16:creationId xmlns:a16="http://schemas.microsoft.com/office/drawing/2014/main" id="{32A7D351-F285-40D4-93F5-F6819236F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7667" y="687389"/>
            <a:ext cx="848615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ru-RU" b="1" dirty="0">
                <a:solidFill>
                  <a:srgbClr val="C0000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2147094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6128" y="2988747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Прямоугольник 5"/>
          <p:cNvSpPr>
            <a:spLocks noChangeArrowheads="1"/>
          </p:cNvSpPr>
          <p:nvPr/>
        </p:nvSpPr>
        <p:spPr bwMode="auto">
          <a:xfrm>
            <a:off x="5821879" y="0"/>
            <a:ext cx="5227121" cy="6858000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2988"/>
            <a:endParaRPr lang="ru-RU" sz="2100"/>
          </a:p>
        </p:txBody>
      </p:sp>
      <p:sp>
        <p:nvSpPr>
          <p:cNvPr id="35844" name="Text Box 2052"/>
          <p:cNvSpPr txBox="1">
            <a:spLocks noChangeArrowheads="1"/>
          </p:cNvSpPr>
          <p:nvPr/>
        </p:nvSpPr>
        <p:spPr bwMode="auto">
          <a:xfrm>
            <a:off x="6691889" y="3167390"/>
            <a:ext cx="522712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437</Words>
  <Application>Microsoft Office PowerPoint</Application>
  <PresentationFormat>Широкоэкранный</PresentationFormat>
  <Paragraphs>82</Paragraphs>
  <Slides>21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2</cp:revision>
  <dcterms:created xsi:type="dcterms:W3CDTF">2025-11-20T17:21:40Z</dcterms:created>
  <dcterms:modified xsi:type="dcterms:W3CDTF">2025-11-20T17:40:22Z</dcterms:modified>
</cp:coreProperties>
</file>